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51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5050" y="490539"/>
            <a:ext cx="8537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4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43039" y="1195388"/>
            <a:ext cx="64577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Architecture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813754" y="2319337"/>
            <a:ext cx="3389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100GB+ Retail Insights Assistant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370528" y="2824161"/>
            <a:ext cx="4402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Design-First Approach to Enterprise-Scale Data Systems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546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Problem &amp; Design Goals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at 100GB+ Scale</a:t>
            </a:r>
            <a:endParaRPr lang="en-US" sz="1380" dirty="0"/>
          </a:p>
        </p:txBody>
      </p:sp>
      <p:sp>
        <p:nvSpPr>
          <p:cNvPr id="4" name="Text 2"/>
          <p:cNvSpPr/>
          <p:nvPr/>
        </p:nvSpPr>
        <p:spPr>
          <a:xfrm>
            <a:off x="609600" y="1606944"/>
            <a:ext cx="241300" cy="210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8700" y="1640830"/>
            <a:ext cx="23757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CSVs no longer fit in memory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02183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" y="2059930"/>
            <a:ext cx="22983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query latency with full scans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44093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28700" y="2479030"/>
            <a:ext cx="2039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costs explode if misused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945755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Design Goals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609600" y="3316486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700" y="3337024"/>
            <a:ext cx="30936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ingestion &amp; storage with partitioning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72680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28700" y="3756124"/>
            <a:ext cx="24973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only relevant data via pruning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4137124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28700" y="4175224"/>
            <a:ext cx="30414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LLM usage minimal &amp; cost-predictable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&amp;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Ingestion Strategy</a:t>
            </a:r>
            <a:endParaRPr lang="en-US" sz="1380" dirty="0"/>
          </a:p>
        </p:txBody>
      </p:sp>
      <p:sp>
        <p:nvSpPr>
          <p:cNvPr id="4" name="Text 2"/>
          <p:cNvSpPr/>
          <p:nvPr/>
        </p:nvSpPr>
        <p:spPr>
          <a:xfrm>
            <a:off x="609600" y="161225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8700" y="1640830"/>
            <a:ext cx="33176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Batch: Daily/hourly CSV → Parquet via PySpark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036316"/>
            <a:ext cx="31089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" y="2059930"/>
            <a:ext cx="45708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Streaming: Optional Kafka/PubSub → Spark Structured Streaming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450455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Processing Layer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41223" y="2833984"/>
            <a:ext cx="247650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8700" y="2841724"/>
            <a:ext cx="5433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80"/>
              </a:lnSpc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enforcement, null handling, type normalization </a:t>
            </a:r>
            <a:r>
              <a:rPr lang="en-IN" sz="1200" dirty="0">
                <a:solidFill>
                  <a:schemeClr val="bg1"/>
                </a:solidFill>
              </a:rPr>
              <a:t>(TRY_CAST</a:t>
            </a:r>
            <a:r>
              <a:rPr lang="en-IN" sz="1200" dirty="0"/>
              <a:t> </a:t>
            </a:r>
            <a:r>
              <a:rPr lang="en-IN" sz="1200" dirty="0">
                <a:solidFill>
                  <a:schemeClr val="bg1"/>
                </a:solidFill>
              </a:rPr>
              <a:t>equivalent)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599" y="3244056"/>
            <a:ext cx="247651" cy="25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700" y="3260824"/>
            <a:ext cx="3076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Partitioned, clean analytical datasets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CEA115-9781-1749-5C5A-B5000D3A1072}"/>
              </a:ext>
            </a:extLst>
          </p:cNvPr>
          <p:cNvSpPr txBox="1"/>
          <p:nvPr/>
        </p:nvSpPr>
        <p:spPr>
          <a:xfrm>
            <a:off x="2933183" y="4267200"/>
            <a:ext cx="282641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📌 </a:t>
            </a:r>
            <a:r>
              <a:rPr lang="en-US" sz="1300" i="1" dirty="0">
                <a:solidFill>
                  <a:schemeClr val="bg1"/>
                </a:solidFill>
              </a:rPr>
              <a:t>Dirty data handled before analytics</a:t>
            </a:r>
            <a:endParaRPr lang="en-US" sz="1300" dirty="0">
              <a:solidFill>
                <a:schemeClr val="bg1"/>
              </a:solidFill>
            </a:endParaRP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Indexing (100GB+)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Data Lake (Cold/Warm Data)</a:t>
            </a:r>
            <a:endParaRPr lang="en-US" sz="1380" dirty="0"/>
          </a:p>
        </p:txBody>
      </p:sp>
      <p:sp>
        <p:nvSpPr>
          <p:cNvPr id="4" name="Text 2"/>
          <p:cNvSpPr/>
          <p:nvPr/>
        </p:nvSpPr>
        <p:spPr>
          <a:xfrm>
            <a:off x="609600" y="157415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8700" y="1640830"/>
            <a:ext cx="45303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/ Azure Data Lake / GCS in Parquet or Delta Lake format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99325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" y="2059930"/>
            <a:ext cx="36461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Partitioned by: Date (year/quarter), Region, Category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412355"/>
            <a:ext cx="8083296" cy="24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Analytical Layer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09600" y="2813149"/>
            <a:ext cx="25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8700" y="2835473"/>
            <a:ext cx="55211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 for local/edge analytics; Delta Lake/BigQuery/Snowflake for cloud scale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252043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700" y="3260824"/>
            <a:ext cx="36466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storage and compute enables flexibility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23" y="1581174"/>
            <a:ext cx="5562600" cy="96134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&amp; Query Efficiency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Metadata &amp; Semantic Filtering</a:t>
            </a:r>
            <a:endParaRPr lang="en-US" sz="1380" dirty="0"/>
          </a:p>
        </p:txBody>
      </p:sp>
      <p:sp>
        <p:nvSpPr>
          <p:cNvPr id="5" name="Text 3"/>
          <p:cNvSpPr/>
          <p:nvPr/>
        </p:nvSpPr>
        <p:spPr>
          <a:xfrm>
            <a:off x="661162" y="1624309"/>
            <a:ext cx="4032758" cy="753132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r>
              <a:rPr lang="en-IN" sz="1200" dirty="0">
                <a:solidFill>
                  <a:schemeClr val="bg1"/>
                </a:solidFill>
              </a:rPr>
              <a:t>Semantic schema maps: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Metrics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Dimensions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Time fields </a:t>
            </a:r>
          </a:p>
          <a:p>
            <a:r>
              <a:rPr lang="en-IN" sz="1200" dirty="0">
                <a:solidFill>
                  <a:schemeClr val="bg1"/>
                </a:solidFill>
              </a:rPr>
              <a:t>SQL queries auto-pruned: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Column pruning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Partition pruning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bg1"/>
                </a:solidFill>
              </a:rPr>
              <a:t>Filter pushdown </a:t>
            </a:r>
          </a:p>
          <a:p>
            <a:pPr>
              <a:lnSpc>
                <a:spcPts val="1080"/>
              </a:lnSpc>
            </a:pP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899273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Vector Indexing (Optional)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609600" y="3278139"/>
            <a:ext cx="259334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28700" y="3314926"/>
            <a:ext cx="4933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FAISS/Pinecone/ChromaDB for similar report retrieval and insight reuse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681910"/>
            <a:ext cx="259334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8700" y="3709642"/>
            <a:ext cx="22983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only relevant slices of data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22847"/>
            <a:ext cx="1098352" cy="21029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lIns="114300" tIns="114300" rIns="114300" bIns="114300" rtlCol="0" anchor="t">
            <a:noAutofit/>
          </a:bodyPr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686300" y="1536055"/>
            <a:ext cx="1286256" cy="209550"/>
          </a:xfrm>
          <a:prstGeom prst="roundRect">
            <a:avLst>
              <a:gd name="adj" fmla="val 872727"/>
            </a:avLst>
          </a:prstGeom>
          <a:solidFill>
            <a:srgbClr val="F97316"/>
          </a:solidFill>
          <a:ln/>
        </p:spPr>
        <p:txBody>
          <a:bodyPr wrap="square" lIns="114300" tIns="114300" rIns="114300" bIns="114300" rtlCol="0" anchor="t">
            <a:normAutofit fontScale="25000" lnSpcReduction="20000"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2609088"/>
            <a:ext cx="7924800" cy="55598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Pattern (LLM Safety at Scale)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561"/>
            <a:ext cx="3925062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Goes Into the LLM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648081" y="1904934"/>
            <a:ext cx="384810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results, business facts, metadata summaries only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686300" y="1249561"/>
            <a:ext cx="3925062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What NEVER Goes Into the LLM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4686300" y="1928973"/>
            <a:ext cx="392506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transactional data, large tables, full CSVs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00100" y="2726918"/>
            <a:ext cx="78889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Pattern: SQL/Warehouse → Facts → LLM Explanation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" y="2990951"/>
            <a:ext cx="78889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= narrator, not calculator</a:t>
            </a:r>
            <a:endParaRPr lang="en-US" sz="114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2BD40-6353-FCAA-741B-6BF058ECF705}"/>
              </a:ext>
            </a:extLst>
          </p:cNvPr>
          <p:cNvSpPr txBox="1"/>
          <p:nvPr/>
        </p:nvSpPr>
        <p:spPr>
          <a:xfrm>
            <a:off x="732531" y="1476347"/>
            <a:ext cx="837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Safe Input</a:t>
            </a:r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21E6C-A007-463A-5015-D85096F2DE5C}"/>
              </a:ext>
            </a:extLst>
          </p:cNvPr>
          <p:cNvSpPr txBox="1"/>
          <p:nvPr/>
        </p:nvSpPr>
        <p:spPr>
          <a:xfrm>
            <a:off x="4686300" y="1486372"/>
            <a:ext cx="1286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Forbidden Input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Orchestration &amp; Cost Control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LLM Handling</a:t>
            </a:r>
            <a:endParaRPr lang="en-US" sz="1380" dirty="0"/>
          </a:p>
        </p:txBody>
      </p:sp>
      <p:sp>
        <p:nvSpPr>
          <p:cNvPr id="4" name="Text 2"/>
          <p:cNvSpPr/>
          <p:nvPr/>
        </p:nvSpPr>
        <p:spPr>
          <a:xfrm>
            <a:off x="609600" y="157415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8700" y="1640830"/>
            <a:ext cx="45922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 per agent, deterministic outputs (temperature=0)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99325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" y="2059930"/>
            <a:ext cx="2575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prompts for repeated queries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450455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⛓️ Orchestration &amp; Cost Optimization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09600" y="2835872"/>
            <a:ext cx="222504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28700" y="2841724"/>
            <a:ext cx="516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chaining via LangChain, SQL-first computation, minimal token usage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5404" y="3232249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700" y="3260824"/>
            <a:ext cx="22725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 with predictable cost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Evaluation &amp; Reliability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sz="13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Metrics Tracked</a:t>
            </a:r>
            <a:endParaRPr lang="en-US" sz="1380" dirty="0"/>
          </a:p>
        </p:txBody>
      </p:sp>
      <p:sp>
        <p:nvSpPr>
          <p:cNvPr id="4" name="Text 2"/>
          <p:cNvSpPr/>
          <p:nvPr/>
        </p:nvSpPr>
        <p:spPr>
          <a:xfrm>
            <a:off x="609600" y="157415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8700" y="1640830"/>
            <a:ext cx="9591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latency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993255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700" y="2059930"/>
            <a:ext cx="2211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query &amp; LLM call 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7804" y="2423820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28700" y="2479030"/>
            <a:ext cx="14920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Validation/refusal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869555"/>
            <a:ext cx="8083296" cy="210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6"/>
              </a:lnSpc>
              <a:buNone/>
            </a:pPr>
            <a:r>
              <a:rPr lang="en-US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r>
              <a:rPr lang="en-US" sz="13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 Handling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609600" y="3232249"/>
            <a:ext cx="310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8700" y="3260824"/>
            <a:ext cx="44384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intent detection, feasibility checks (e.g., YoY without time)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651349"/>
            <a:ext cx="3108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28700" y="3679924"/>
            <a:ext cx="38713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fallbacks &amp; no hallucinated insights guaranteed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98" y="1316236"/>
            <a:ext cx="7924800" cy="622292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→ Response Pipeline in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401961"/>
            <a:ext cx="78889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User Query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0100" y="1678186"/>
            <a:ext cx="7888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category saw highest YoY growth in Q3 in North region?"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4528" y="2189488"/>
            <a:ext cx="128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Intent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70948" y="215138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75748" y="2189488"/>
            <a:ext cx="128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32167" y="215138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36967" y="2189488"/>
            <a:ext cx="128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93387" y="215138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8187" y="2189488"/>
            <a:ext cx="128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54606" y="215138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59406" y="2189488"/>
            <a:ext cx="128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Explain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7644" y="2675263"/>
            <a:ext cx="518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70221" y="2675263"/>
            <a:ext cx="824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Accurate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3883" y="2675263"/>
            <a:ext cx="1008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Explainable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61784" y="2675263"/>
            <a:ext cx="7987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2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Scalable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8410" y="533079"/>
            <a:ext cx="74703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4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638010" y="1390329"/>
            <a:ext cx="386783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Design-First Scalability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87757" y="2064579"/>
            <a:ext cx="47683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architecture for 100GB+ data systems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12741" y="2599885"/>
            <a:ext cx="4518517" cy="23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Built for scale. Designed for reliability. Ready for production.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7310" y="3531429"/>
            <a:ext cx="6881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502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Kunal Gaikwad</cp:lastModifiedBy>
  <cp:revision>2</cp:revision>
  <dcterms:created xsi:type="dcterms:W3CDTF">2026-01-31T13:32:06Z</dcterms:created>
  <dcterms:modified xsi:type="dcterms:W3CDTF">2026-01-31T14:09:32Z</dcterms:modified>
</cp:coreProperties>
</file>